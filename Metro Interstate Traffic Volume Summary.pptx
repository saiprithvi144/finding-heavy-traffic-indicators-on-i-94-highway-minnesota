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8" r:id="rId5"/>
    <p:sldId id="260" r:id="rId6"/>
    <p:sldId id="261" r:id="rId7"/>
    <p:sldId id="262" r:id="rId8"/>
    <p:sldId id="265" r:id="rId9"/>
    <p:sldId id="267" r:id="rId10"/>
    <p:sldId id="268" r:id="rId11"/>
    <p:sldId id="269" r:id="rId12"/>
    <p:sldId id="271" r:id="rId13"/>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61" d="100"/>
          <a:sy n="161" d="100"/>
        </p:scale>
        <p:origin x="15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ED1C14C-A143-42F5-B247-D0E8001310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ED1C14C-A143-42F5-B247-D0E8001310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ED1C14C-A143-42F5-B247-D0E8001310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D1C14C-A143-42F5-B247-D0E8001310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EED1C14C-A143-42F5-B247-D0E8001310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EED1C14C-A143-42F5-B247-D0E8001310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ED1C14C-A143-42F5-B247-D0E8001310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ED1C14C-A143-42F5-B247-D0E8001310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ED1C14C-A143-42F5-B247-D0E8001310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D1C14C-A143-42F5-B247-D0E8001310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EED1C14C-A143-42F5-B247-D0E8001310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EED1C14C-A143-42F5-B247-D0E8001310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ED1C14C-A143-42F5-B247-D0E8001310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D1C14C-A143-42F5-B247-D0E800131009}"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03D32D-F1BC-4E9C-97E1-36CFF5B2234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D1C14C-A143-42F5-B247-D0E800131009}"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03D32D-F1BC-4E9C-97E1-36CFF5B2234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1"/>
          <p:cNvSpPr>
            <a:spLocks noGrp="1"/>
          </p:cNvSpPr>
          <p:nvPr>
            <p:ph type="ctrTitle"/>
          </p:nvPr>
        </p:nvSpPr>
        <p:spPr/>
        <p:txBody>
          <a:bodyPr/>
          <a:lstStyle/>
          <a:p>
            <a:r>
              <a:rPr lang="en-IN" altLang="en-US" sz="5400" b="1" u="sng">
                <a:solidFill>
                  <a:schemeClr val="accent1"/>
                </a:solidFill>
                <a:effectLst>
                  <a:outerShdw blurRad="38100" dist="25400" dir="5400000" algn="ctr" rotWithShape="0">
                    <a:srgbClr val="6E747A">
                      <a:alpha val="43000"/>
                    </a:srgbClr>
                  </a:outerShdw>
                </a:effectLst>
                <a:sym typeface="+mn-ea"/>
              </a:rPr>
              <a:t>Indicators for heavy traffic on    I-94 Highway, Minnesota</a:t>
            </a:r>
            <a:endParaRPr lang="en-IN" altLang="en-US" sz="5400" b="1" u="sng" dirty="0">
              <a:solidFill>
                <a:schemeClr val="accent1"/>
              </a:solidFill>
              <a:effectLst>
                <a:outerShdw blurRad="38100" dist="25400" dir="5400000" algn="ctr" rotWithShape="0">
                  <a:srgbClr val="6E747A">
                    <a:alpha val="43000"/>
                  </a:srgbClr>
                </a:outerShdw>
              </a:effectLst>
              <a:sym typeface="+mn-ea"/>
            </a:endParaRPr>
          </a:p>
        </p:txBody>
      </p:sp>
      <p:sp>
        <p:nvSpPr>
          <p:cNvPr id="3" name="slide1"/>
          <p:cNvSpPr>
            <a:spLocks noGrp="1"/>
          </p:cNvSpPr>
          <p:nvPr>
            <p:ph type="subTitle" idx="1"/>
          </p:nvPr>
        </p:nvSpPr>
        <p:spPr/>
        <p:txBody>
          <a:bodyPr/>
          <a:lstStyle/>
          <a:p>
            <a:r>
              <a:rPr lang="en-IN"/>
              <a:t>A Project Summary by Sai Prithvi</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ln/>
                <a:solidFill>
                  <a:schemeClr val="accent1"/>
                </a:solidFill>
                <a:effectLst>
                  <a:outerShdw blurRad="38100" dist="25400" dir="5400000" algn="ctr" rotWithShape="0">
                    <a:srgbClr val="6E747A">
                      <a:alpha val="43000"/>
                    </a:srgbClr>
                  </a:outerShdw>
                </a:effectLst>
              </a:rPr>
              <a:t>Project Overview</a:t>
            </a:r>
            <a:endParaRPr lang="en-IN" altLang="en-US" sz="2800" b="1" u="sng">
              <a:ln/>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0515600" cy="5342890"/>
          </a:xfrm>
        </p:spPr>
        <p:txBody>
          <a:bodyPr>
            <a:normAutofit/>
          </a:bodyPr>
          <a:p>
            <a:r>
              <a:rPr lang="en-US" altLang="en-US" sz="2400"/>
              <a:t>This project applies EDA (Exploratory Data Analysis) on the I-94 Minnesota Highway Dataset for Westbound traffic to find factors and indicators that contribute to Heavy Traffic using</a:t>
            </a:r>
            <a:r>
              <a:rPr lang="en-IN" altLang="en-US" sz="2400"/>
              <a:t> </a:t>
            </a:r>
            <a:r>
              <a:rPr lang="en-US" altLang="en-US" sz="2400"/>
              <a:t>various python libraries.</a:t>
            </a:r>
            <a:endParaRPr lang="en-US" altLang="en-US" sz="2400"/>
          </a:p>
          <a:p>
            <a:pPr marL="0" indent="0">
              <a:buNone/>
            </a:pPr>
            <a:r>
              <a:rPr lang="en-IN" altLang="en-US" sz="2400" u="sng">
                <a:solidFill>
                  <a:schemeClr val="accent1"/>
                </a:solidFill>
                <a:effectLst>
                  <a:outerShdw blurRad="38100" dist="25400" dir="5400000" algn="ctr" rotWithShape="0">
                    <a:srgbClr val="6E747A">
                      <a:alpha val="43000"/>
                    </a:srgbClr>
                  </a:outerShdw>
                </a:effectLst>
                <a:sym typeface="+mn-ea"/>
              </a:rPr>
              <a:t>Objective</a:t>
            </a:r>
            <a:endParaRPr lang="en-IN" altLang="en-US" sz="2400" u="sng">
              <a:solidFill>
                <a:schemeClr val="accent1"/>
              </a:solidFill>
              <a:effectLst>
                <a:outerShdw blurRad="38100" dist="25400" dir="5400000" algn="ctr" rotWithShape="0">
                  <a:srgbClr val="6E747A">
                    <a:alpha val="43000"/>
                  </a:srgbClr>
                </a:outerShdw>
              </a:effectLst>
              <a:sym typeface="+mn-ea"/>
            </a:endParaRPr>
          </a:p>
          <a:p>
            <a:r>
              <a:rPr lang="en-IN" altLang="en-US" sz="2400">
                <a:sym typeface="+mn-ea"/>
              </a:rPr>
              <a:t>To u</a:t>
            </a:r>
            <a:r>
              <a:rPr lang="en-US" altLang="en-US" sz="2400">
                <a:sym typeface="+mn-ea"/>
              </a:rPr>
              <a:t>se exploratory data visualization to identify the primary factors contributing to heavy westbound traffic on I-94 based on weather, time, and day of week indicators.</a:t>
            </a:r>
            <a:r>
              <a:rPr lang="en-IN" altLang="en-US" sz="2400">
                <a:sym typeface="+mn-ea"/>
              </a:rPr>
              <a:t> </a:t>
            </a:r>
            <a:endParaRPr lang="en-US" altLang="en-US" sz="2400">
              <a:sym typeface="+mn-ea"/>
            </a:endParaRPr>
          </a:p>
          <a:p>
            <a:pPr marL="0" indent="0">
              <a:buNone/>
            </a:pPr>
            <a:r>
              <a:rPr lang="en-IN" altLang="en-US" sz="2400" u="sng">
                <a:solidFill>
                  <a:schemeClr val="accent1"/>
                </a:solidFill>
                <a:effectLst>
                  <a:outerShdw blurRad="38100" dist="25400" dir="5400000" algn="ctr" rotWithShape="0">
                    <a:srgbClr val="6E747A">
                      <a:alpha val="43000"/>
                    </a:srgbClr>
                  </a:outerShdw>
                </a:effectLst>
                <a:sym typeface="+mn-ea"/>
              </a:rPr>
              <a:t>Tools Used</a:t>
            </a:r>
            <a:endParaRPr lang="en-IN" altLang="en-US" sz="2400" u="sng">
              <a:solidFill>
                <a:schemeClr val="accent1"/>
              </a:solidFill>
              <a:effectLst>
                <a:outerShdw blurRad="38100" dist="25400" dir="5400000" algn="ctr" rotWithShape="0">
                  <a:srgbClr val="6E747A">
                    <a:alpha val="43000"/>
                  </a:srgbClr>
                </a:outerShdw>
              </a:effectLst>
            </a:endParaRPr>
          </a:p>
          <a:p>
            <a:r>
              <a:rPr lang="en-IN" altLang="en-US" sz="2400"/>
              <a:t>Python Packages: </a:t>
            </a:r>
            <a:r>
              <a:rPr lang="en-US" altLang="en-US" sz="2400"/>
              <a:t>Pandas, Seaborn and Matplotlib</a:t>
            </a:r>
            <a:endParaRPr lang="en-US" altLang="en-US" sz="2400"/>
          </a:p>
          <a:p>
            <a:pPr marL="0" indent="0">
              <a:buNone/>
            </a:pPr>
            <a:endParaRPr lang="en-US" altLang="en-US" sz="2400"/>
          </a:p>
          <a:p>
            <a:pPr marL="0" indent="0">
              <a:buNone/>
            </a:pPr>
            <a:endParaRPr lang="en-US" altLang="en-US" sz="2400"/>
          </a:p>
          <a:p>
            <a:pPr marL="0" indent="0" algn="ctr">
              <a:buNone/>
            </a:pPr>
            <a:r>
              <a:rPr lang="en-IN" altLang="en-US" sz="1800"/>
              <a:t>*</a:t>
            </a:r>
            <a:r>
              <a:rPr lang="en-US" altLang="en-US" sz="1800"/>
              <a:t>Courtesy of the UCI Machine Learning Repository, John Hogue who made the dataset available for use.</a:t>
            </a:r>
            <a:r>
              <a:rPr lang="en-IN" altLang="en-US" sz="1800"/>
              <a:t>*</a:t>
            </a:r>
            <a:endParaRPr lang="en-IN"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Data Manipulation</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0515600" cy="4351338"/>
          </a:xfrm>
        </p:spPr>
        <p:txBody>
          <a:bodyPr/>
          <a:p>
            <a:r>
              <a:rPr lang="en-IN" altLang="en-US" sz="2400"/>
              <a:t>There were a total of 48204 entries in the dataset.</a:t>
            </a:r>
            <a:endParaRPr lang="en-US" altLang="en-US" sz="2400"/>
          </a:p>
          <a:p>
            <a:r>
              <a:rPr lang="en-US" altLang="en-US" sz="2400"/>
              <a:t>Converted date_time to datetime64 dtype</a:t>
            </a:r>
            <a:endParaRPr lang="en-US" altLang="en-US" sz="2400"/>
          </a:p>
          <a:p>
            <a:r>
              <a:rPr lang="en-US" altLang="en-US" sz="2400"/>
              <a:t>Converted Kelvin to Celsius</a:t>
            </a:r>
            <a:endParaRPr lang="en-US" altLang="en-US" sz="2400"/>
          </a:p>
          <a:p>
            <a:r>
              <a:rPr lang="en-IN" altLang="en-US" sz="2400"/>
              <a:t>Changed all ‘None’ values in holiday column to ‘normal_day’</a:t>
            </a:r>
            <a:endParaRPr lang="en-US" altLang="en-US" sz="2400"/>
          </a:p>
          <a:p>
            <a:r>
              <a:rPr lang="en-IN" altLang="en-US" sz="2400"/>
              <a:t>Discovered</a:t>
            </a:r>
            <a:r>
              <a:rPr lang="en-US" altLang="en-US" sz="2400"/>
              <a:t> 17 duplicate values</a:t>
            </a:r>
            <a:r>
              <a:rPr lang="en-IN" altLang="en-US" sz="2400"/>
              <a:t> and removed them, Leaving </a:t>
            </a:r>
            <a:r>
              <a:rPr lang="en-US" altLang="en-US" sz="2400"/>
              <a:t>48,187</a:t>
            </a:r>
            <a:r>
              <a:rPr lang="en-IN" altLang="en-US" sz="2400"/>
              <a:t> entries left.</a:t>
            </a:r>
            <a:endParaRPr lang="en-US" altLang="en-US" sz="2400"/>
          </a:p>
          <a:p>
            <a:r>
              <a:rPr lang="en-US" altLang="en-US" sz="2400"/>
              <a:t>Grouped weather data by traffic volume and found out traffic volume is highest</a:t>
            </a:r>
            <a:r>
              <a:rPr lang="en-IN" altLang="en-US" sz="2400"/>
              <a:t> </a:t>
            </a:r>
            <a:r>
              <a:rPr lang="en-US" altLang="en-US" sz="2400"/>
              <a:t>during cloudy or clear weather by a significant amount.</a:t>
            </a:r>
            <a:endParaRPr lang="en-US" altLang="en-US" sz="2400"/>
          </a:p>
        </p:txBody>
      </p:sp>
      <p:pic>
        <p:nvPicPr>
          <p:cNvPr id="3" name="Picture 2"/>
          <p:cNvPicPr>
            <a:picLocks noChangeAspect="1"/>
          </p:cNvPicPr>
          <p:nvPr/>
        </p:nvPicPr>
        <p:blipFill>
          <a:blip r:embed="rId1">
            <a:duotone>
              <a:schemeClr val="accent5">
                <a:shade val="45000"/>
                <a:satMod val="135000"/>
              </a:schemeClr>
              <a:prstClr val="white"/>
            </a:duotone>
          </a:blip>
          <a:stretch>
            <a:fillRect/>
          </a:stretch>
        </p:blipFill>
        <p:spPr>
          <a:xfrm>
            <a:off x="3998595" y="3939540"/>
            <a:ext cx="3209290" cy="2807335"/>
          </a:xfrm>
          <a:prstGeom prst="rect">
            <a:avLst/>
          </a:prstGeom>
          <a:ln>
            <a:solidFill>
              <a:schemeClr val="tx1">
                <a:lumMod val="95000"/>
                <a:lumOff val="5000"/>
              </a:schemeClr>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Analyzing Traffic Volume Distribution</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0515600" cy="4351338"/>
          </a:xfrm>
        </p:spPr>
        <p:txBody>
          <a:bodyPr/>
          <a:p>
            <a:r>
              <a:rPr lang="en-US" altLang="en-US" sz="2400"/>
              <a:t>After observing the </a:t>
            </a:r>
            <a:r>
              <a:rPr lang="en-IN" altLang="en-US" sz="2400"/>
              <a:t>histogram for </a:t>
            </a:r>
            <a:r>
              <a:rPr lang="en-US" altLang="en-US" sz="2400"/>
              <a:t>distribution of traffic volume, We can confirm that the most</a:t>
            </a:r>
            <a:r>
              <a:rPr lang="en-IN" altLang="en-US" sz="2400"/>
              <a:t> </a:t>
            </a:r>
            <a:r>
              <a:rPr lang="en-US" altLang="en-US" sz="2400"/>
              <a:t>frequent traffic density is between 0-1000 and 4000-5000 vehicles approximately.</a:t>
            </a:r>
            <a:endParaRPr lang="en-US" altLang="en-US" sz="2400"/>
          </a:p>
          <a:p>
            <a:r>
              <a:rPr lang="en-US" altLang="en-US" sz="2400"/>
              <a:t>There is an average of 3280 vehicles as the traffic volume with the maximum vehicles</a:t>
            </a:r>
            <a:r>
              <a:rPr lang="en-IN" altLang="en-US" sz="2400"/>
              <a:t> </a:t>
            </a:r>
            <a:r>
              <a:rPr lang="en-US" altLang="en-US" sz="2400"/>
              <a:t>being 7280 vehicles in a single hour.</a:t>
            </a:r>
            <a:endParaRPr lang="en-US" altLang="en-US" sz="2400"/>
          </a:p>
        </p:txBody>
      </p:sp>
      <p:pic>
        <p:nvPicPr>
          <p:cNvPr id="6" name="Picture 5"/>
          <p:cNvPicPr/>
          <p:nvPr/>
        </p:nvPicPr>
        <p:blipFill>
          <a:blip r:embed="rId1"/>
          <a:stretch>
            <a:fillRect/>
          </a:stretch>
        </p:blipFill>
        <p:spPr>
          <a:xfrm>
            <a:off x="1627505" y="2861945"/>
            <a:ext cx="6895465" cy="3644265"/>
          </a:xfrm>
          <a:prstGeom prst="rect">
            <a:avLst/>
          </a:prstGeom>
        </p:spPr>
      </p:pic>
      <p:pic>
        <p:nvPicPr>
          <p:cNvPr id="7" name="Picture 6"/>
          <p:cNvPicPr>
            <a:picLocks noChangeAspect="1"/>
          </p:cNvPicPr>
          <p:nvPr/>
        </p:nvPicPr>
        <p:blipFill>
          <a:blip r:embed="rId2">
            <a:duotone>
              <a:prstClr val="black"/>
              <a:schemeClr val="accent3">
                <a:tint val="45000"/>
                <a:satMod val="400000"/>
              </a:schemeClr>
            </a:duotone>
          </a:blip>
          <a:stretch>
            <a:fillRect/>
          </a:stretch>
        </p:blipFill>
        <p:spPr>
          <a:xfrm>
            <a:off x="8647430" y="3900805"/>
            <a:ext cx="2687320" cy="2192020"/>
          </a:xfrm>
          <a:prstGeom prst="rect">
            <a:avLst/>
          </a:prstGeom>
          <a:ln>
            <a:solidFill>
              <a:schemeClr val="tx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Analyzing Traffic Volume Distribution by Weather Conditions</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0515600" cy="4351338"/>
          </a:xfrm>
        </p:spPr>
        <p:txBody>
          <a:bodyPr/>
          <a:p>
            <a:r>
              <a:rPr lang="en-US" altLang="en-US" sz="2400"/>
              <a:t>After observing the </a:t>
            </a:r>
            <a:r>
              <a:rPr lang="en-IN" altLang="en-US" sz="2400"/>
              <a:t>boxplot </a:t>
            </a:r>
            <a:r>
              <a:rPr lang="en-US" altLang="en-US" sz="2400"/>
              <a:t>distribution of traffic volume</a:t>
            </a:r>
            <a:r>
              <a:rPr lang="en-IN" altLang="en-US" sz="2400"/>
              <a:t> based on weather</a:t>
            </a:r>
            <a:r>
              <a:rPr lang="en-US" altLang="en-US" sz="2400"/>
              <a:t>, The median for Cloudy, Haze</a:t>
            </a:r>
            <a:r>
              <a:rPr lang="en-IN" altLang="en-US" sz="2400"/>
              <a:t>, Rain/Drizzle</a:t>
            </a:r>
            <a:r>
              <a:rPr lang="en-US" altLang="en-US" sz="2400"/>
              <a:t> and Smoke are higher than the rest</a:t>
            </a:r>
            <a:r>
              <a:rPr lang="en-IN" altLang="en-US" sz="2400"/>
              <a:t> </a:t>
            </a:r>
            <a:r>
              <a:rPr lang="en-US" altLang="en-US" sz="2400"/>
              <a:t>signifying high density of traffic under those specific conditions.</a:t>
            </a:r>
            <a:r>
              <a:rPr lang="en-IN" altLang="en-US" sz="2400"/>
              <a:t> </a:t>
            </a:r>
            <a:endParaRPr lang="en-US" altLang="en-US" sz="2400"/>
          </a:p>
          <a:p>
            <a:r>
              <a:rPr lang="en-US" altLang="en-US" sz="2400"/>
              <a:t>The median for Fog</a:t>
            </a:r>
            <a:r>
              <a:rPr lang="en-IN" altLang="en-US" sz="2400"/>
              <a:t>, Mist</a:t>
            </a:r>
            <a:r>
              <a:rPr lang="en-US" altLang="en-US" sz="2400"/>
              <a:t> and Squall is lower than the rest meaning traffic density</a:t>
            </a:r>
            <a:r>
              <a:rPr lang="en-IN" altLang="en-US" sz="2400"/>
              <a:t> </a:t>
            </a:r>
            <a:r>
              <a:rPr lang="en-US" altLang="en-US" sz="2400"/>
              <a:t>is lower for those specific conditions.</a:t>
            </a:r>
            <a:r>
              <a:rPr lang="en-IN" altLang="en-US" sz="2400">
                <a:sym typeface="+mn-ea"/>
              </a:rPr>
              <a:t>This could be due to less people risking driving on the roads during low visibility.</a:t>
            </a:r>
            <a:endParaRPr lang="en-US" altLang="en-US" sz="2400"/>
          </a:p>
          <a:p>
            <a:endParaRPr lang="en-US" altLang="en-US" sz="2400"/>
          </a:p>
        </p:txBody>
      </p:sp>
      <p:pic>
        <p:nvPicPr>
          <p:cNvPr id="3" name="Picture 2"/>
          <p:cNvPicPr/>
          <p:nvPr/>
        </p:nvPicPr>
        <p:blipFill>
          <a:blip r:embed="rId1"/>
          <a:stretch>
            <a:fillRect/>
          </a:stretch>
        </p:blipFill>
        <p:spPr>
          <a:xfrm>
            <a:off x="2994025" y="3074670"/>
            <a:ext cx="4934585" cy="368808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Analyzing Traffic Volume Distribution by Day of Week</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0515600" cy="4351338"/>
          </a:xfrm>
        </p:spPr>
        <p:txBody>
          <a:bodyPr/>
          <a:p>
            <a:r>
              <a:rPr lang="en-US" altLang="en-US" sz="2400"/>
              <a:t>After observing the </a:t>
            </a:r>
            <a:r>
              <a:rPr lang="en-IN" altLang="en-US" sz="2400"/>
              <a:t>barplot </a:t>
            </a:r>
            <a:r>
              <a:rPr lang="en-US" altLang="en-US" sz="2400"/>
              <a:t>distribution of traffic volume</a:t>
            </a:r>
            <a:r>
              <a:rPr lang="en-IN" altLang="en-US" sz="2400"/>
              <a:t> based on the day of the week</a:t>
            </a:r>
            <a:r>
              <a:rPr lang="en-US" altLang="en-US" sz="2400"/>
              <a:t>, Saturday</a:t>
            </a:r>
            <a:r>
              <a:rPr lang="en-IN" altLang="en-US" sz="2400"/>
              <a:t> </a:t>
            </a:r>
            <a:r>
              <a:rPr lang="en-US" altLang="en-US" sz="2400"/>
              <a:t>and Sunday are </a:t>
            </a:r>
            <a:r>
              <a:rPr lang="en-IN" altLang="en-US" sz="2400"/>
              <a:t>discovered to be </a:t>
            </a:r>
            <a:r>
              <a:rPr lang="en-US" altLang="en-US" sz="2400"/>
              <a:t>the days with the lowest traffic volume</a:t>
            </a:r>
            <a:r>
              <a:rPr lang="en-IN" altLang="en-US" sz="2400"/>
              <a:t>, likely due to it being the weekend and most of the population having their days’ off.</a:t>
            </a:r>
            <a:endParaRPr lang="en-IN" altLang="en-US" sz="2400"/>
          </a:p>
        </p:txBody>
      </p:sp>
      <p:pic>
        <p:nvPicPr>
          <p:cNvPr id="4" name="Picture 3"/>
          <p:cNvPicPr/>
          <p:nvPr/>
        </p:nvPicPr>
        <p:blipFill>
          <a:blip r:embed="rId1"/>
          <a:stretch>
            <a:fillRect/>
          </a:stretch>
        </p:blipFill>
        <p:spPr>
          <a:xfrm>
            <a:off x="2809875" y="2260600"/>
            <a:ext cx="5303520" cy="4160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Analyzing Traffic Volume Distribution by Month</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0515600" cy="4351338"/>
          </a:xfrm>
        </p:spPr>
        <p:txBody>
          <a:bodyPr/>
          <a:p>
            <a:r>
              <a:rPr lang="en-US" altLang="en-US" sz="2400"/>
              <a:t>From the bar graph for traffic volume versus each month, Winter months from November</a:t>
            </a:r>
            <a:r>
              <a:rPr lang="en-IN" altLang="en-US" sz="2400"/>
              <a:t> </a:t>
            </a:r>
            <a:r>
              <a:rPr lang="en-US" altLang="en-US" sz="2400"/>
              <a:t>to February</a:t>
            </a:r>
            <a:r>
              <a:rPr lang="en-IN" altLang="en-US" sz="2400"/>
              <a:t> are observed to</a:t>
            </a:r>
            <a:r>
              <a:rPr lang="en-US" altLang="en-US" sz="2400"/>
              <a:t> have the lowest traffic volume</a:t>
            </a:r>
            <a:r>
              <a:rPr lang="en-IN" altLang="en-US" sz="2400"/>
              <a:t>, most likely due to winter holidays.</a:t>
            </a:r>
            <a:endParaRPr lang="en-IN" altLang="en-US" sz="2400"/>
          </a:p>
          <a:p>
            <a:r>
              <a:rPr lang="en-US" altLang="en-US" sz="2400"/>
              <a:t>Summer months from June to August have</a:t>
            </a:r>
            <a:r>
              <a:rPr lang="en-IN" altLang="en-US" sz="2400"/>
              <a:t> </a:t>
            </a:r>
            <a:r>
              <a:rPr lang="en-US" altLang="en-US" sz="2400"/>
              <a:t>the highest traffic volume except for July which seems unusual.</a:t>
            </a:r>
            <a:endParaRPr lang="en-US" altLang="en-US" sz="2400"/>
          </a:p>
          <a:p>
            <a:endParaRPr lang="en-US" altLang="en-US" sz="2400"/>
          </a:p>
        </p:txBody>
      </p:sp>
      <p:pic>
        <p:nvPicPr>
          <p:cNvPr id="3" name="Picture 2"/>
          <p:cNvPicPr/>
          <p:nvPr/>
        </p:nvPicPr>
        <p:blipFill>
          <a:blip r:embed="rId1"/>
          <a:stretch>
            <a:fillRect/>
          </a:stretch>
        </p:blipFill>
        <p:spPr>
          <a:xfrm>
            <a:off x="4210050" y="2489200"/>
            <a:ext cx="5303520" cy="4160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Analyzing yearly Traffic Volume Distribution in the month of July</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0515600" cy="4351338"/>
          </a:xfrm>
        </p:spPr>
        <p:txBody>
          <a:bodyPr/>
          <a:p>
            <a:r>
              <a:rPr lang="en-US" altLang="en-US" sz="2400"/>
              <a:t>Judging from the bar graph below for the traffic density for each year in the month of</a:t>
            </a:r>
            <a:r>
              <a:rPr lang="en-IN" altLang="en-US" sz="2400"/>
              <a:t> </a:t>
            </a:r>
            <a:r>
              <a:rPr lang="en-US" altLang="en-US" sz="2400"/>
              <a:t>July, we can observe that 2016 and 2014 have significantly lower traffic density which</a:t>
            </a:r>
            <a:r>
              <a:rPr lang="en-IN" altLang="en-US" sz="2400"/>
              <a:t> </a:t>
            </a:r>
            <a:r>
              <a:rPr lang="en-US" altLang="en-US" sz="2400"/>
              <a:t>is the reason behind July having lower traffic volume in the Summer months. This could</a:t>
            </a:r>
            <a:r>
              <a:rPr lang="en-IN" altLang="en-US" sz="2400"/>
              <a:t> </a:t>
            </a:r>
            <a:r>
              <a:rPr lang="en-US" altLang="en-US" sz="2400"/>
              <a:t>be because of road construction work or the road being closed down for other reasons.</a:t>
            </a:r>
            <a:endParaRPr lang="en-US" altLang="en-US" sz="2400"/>
          </a:p>
          <a:p>
            <a:endParaRPr lang="en-US" altLang="en-US" sz="2400"/>
          </a:p>
        </p:txBody>
      </p:sp>
      <p:pic>
        <p:nvPicPr>
          <p:cNvPr id="4" name="Picture 3"/>
          <p:cNvPicPr/>
          <p:nvPr/>
        </p:nvPicPr>
        <p:blipFill>
          <a:blip r:embed="rId1"/>
          <a:stretch>
            <a:fillRect/>
          </a:stretch>
        </p:blipFill>
        <p:spPr>
          <a:xfrm>
            <a:off x="3068955" y="2728595"/>
            <a:ext cx="4785360" cy="3992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Analyzing Traffic Volume Distribution by weather details</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917575"/>
            <a:ext cx="5507355" cy="4332605"/>
          </a:xfrm>
        </p:spPr>
        <p:txBody>
          <a:bodyPr/>
          <a:p>
            <a:r>
              <a:rPr lang="en-US" altLang="en-US" sz="2400"/>
              <a:t>From the </a:t>
            </a:r>
            <a:r>
              <a:rPr lang="en-IN" altLang="en-US" sz="2400"/>
              <a:t>bar </a:t>
            </a:r>
            <a:r>
              <a:rPr lang="en-US" altLang="en-US" sz="2400"/>
              <a:t>graph with the detailed weather description</a:t>
            </a:r>
            <a:r>
              <a:rPr lang="en-IN" altLang="en-US" sz="2400"/>
              <a:t>,</a:t>
            </a:r>
            <a:r>
              <a:rPr lang="en-US" altLang="en-US" sz="2400"/>
              <a:t> we can infer that any form of rain or snow causes a decent spike in</a:t>
            </a:r>
            <a:r>
              <a:rPr lang="en-IN" altLang="en-US" sz="2400"/>
              <a:t> </a:t>
            </a:r>
            <a:r>
              <a:rPr lang="en-US" altLang="en-US" sz="2400"/>
              <a:t>traffic volume. </a:t>
            </a:r>
            <a:endParaRPr lang="en-US" altLang="en-US" sz="2400"/>
          </a:p>
          <a:p>
            <a:r>
              <a:rPr lang="en-US" altLang="en-US" sz="2400"/>
              <a:t>Shower snow and proximity shower rain in particular have the highest observed traffic density.</a:t>
            </a:r>
            <a:endParaRPr lang="en-US" altLang="en-US" sz="2400"/>
          </a:p>
          <a:p>
            <a:r>
              <a:rPr lang="en-US" altLang="en-US" sz="2400"/>
              <a:t>This could be due to slower driving speeds causing more congestions and more people preferring to go by car to avoid walking or biking/cycling.</a:t>
            </a:r>
            <a:endParaRPr lang="en-US" altLang="en-US" sz="2400"/>
          </a:p>
        </p:txBody>
      </p:sp>
      <p:pic>
        <p:nvPicPr>
          <p:cNvPr id="3" name="Picture 2"/>
          <p:cNvPicPr/>
          <p:nvPr/>
        </p:nvPicPr>
        <p:blipFill>
          <a:blip r:embed="rId1"/>
          <a:stretch>
            <a:fillRect/>
          </a:stretch>
        </p:blipFill>
        <p:spPr>
          <a:xfrm>
            <a:off x="5631180" y="1012825"/>
            <a:ext cx="6475095" cy="5396865"/>
          </a:xfrm>
          <a:prstGeom prst="rect">
            <a:avLst/>
          </a:prstGeom>
          <a:ln>
            <a:solidFill>
              <a:schemeClr val="tx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Comparing Day vs Night Traffic Volume Distribution</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0515600" cy="4351338"/>
          </a:xfrm>
        </p:spPr>
        <p:txBody>
          <a:bodyPr/>
          <a:p>
            <a:r>
              <a:rPr lang="en-US" altLang="en-US" sz="2400"/>
              <a:t>Judging from the </a:t>
            </a:r>
            <a:r>
              <a:rPr lang="en-IN" altLang="en-US" sz="2400"/>
              <a:t>histogram</a:t>
            </a:r>
            <a:r>
              <a:rPr lang="en-US" altLang="en-US" sz="2400"/>
              <a:t> below</a:t>
            </a:r>
            <a:r>
              <a:rPr lang="en-IN" altLang="en-US" sz="2400"/>
              <a:t> and</a:t>
            </a:r>
            <a:r>
              <a:rPr lang="en-US" altLang="en-US" sz="2400"/>
              <a:t> </a:t>
            </a:r>
            <a:r>
              <a:rPr lang="en-IN" altLang="en-US" sz="2400"/>
              <a:t>c</a:t>
            </a:r>
            <a:r>
              <a:rPr lang="en-US" altLang="en-US" sz="2400"/>
              <a:t>omparing the day vs night traffic densities</a:t>
            </a:r>
            <a:r>
              <a:rPr lang="en-IN" altLang="en-US" sz="2400"/>
              <a:t>,</a:t>
            </a:r>
            <a:r>
              <a:rPr lang="en-US" altLang="en-US" sz="2400"/>
              <a:t> we can observe that night traffic is</a:t>
            </a:r>
            <a:r>
              <a:rPr lang="en-IN" altLang="en-US" sz="2400"/>
              <a:t> </a:t>
            </a:r>
            <a:r>
              <a:rPr lang="en-US" altLang="en-US" sz="2400"/>
              <a:t>significantly lower than day traffic which is to be expected as most individuals are</a:t>
            </a:r>
            <a:r>
              <a:rPr lang="en-IN" altLang="en-US" sz="2400"/>
              <a:t> </a:t>
            </a:r>
            <a:r>
              <a:rPr lang="en-US" altLang="en-US" sz="2400"/>
              <a:t>back home from work or asleep. </a:t>
            </a:r>
            <a:endParaRPr lang="en-US" altLang="en-US" sz="2400"/>
          </a:p>
          <a:p>
            <a:r>
              <a:rPr lang="en-US" altLang="en-US" sz="2400"/>
              <a:t>There are some exceptions for traffic density during</a:t>
            </a:r>
            <a:r>
              <a:rPr lang="en-IN" altLang="en-US" sz="2400"/>
              <a:t> </a:t>
            </a:r>
            <a:r>
              <a:rPr lang="en-US" altLang="en-US" sz="2400"/>
              <a:t>nighttime which needs to be investigated.</a:t>
            </a:r>
            <a:endParaRPr lang="en-US" altLang="en-US" sz="2400"/>
          </a:p>
          <a:p>
            <a:endParaRPr lang="en-US" altLang="en-US" sz="2400"/>
          </a:p>
        </p:txBody>
      </p:sp>
      <p:pic>
        <p:nvPicPr>
          <p:cNvPr id="3" name="Picture 2"/>
          <p:cNvPicPr/>
          <p:nvPr/>
        </p:nvPicPr>
        <p:blipFill>
          <a:blip r:embed="rId1"/>
          <a:stretch>
            <a:fillRect/>
          </a:stretch>
        </p:blipFill>
        <p:spPr>
          <a:xfrm>
            <a:off x="2387600" y="2445385"/>
            <a:ext cx="5878830" cy="416052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Analyzing traffic volume distribution by weather condition at night</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0515600" cy="4351338"/>
          </a:xfrm>
        </p:spPr>
        <p:txBody>
          <a:bodyPr/>
          <a:p>
            <a:r>
              <a:rPr lang="en-US" altLang="en-US" sz="2400"/>
              <a:t>From the boxplot below we can see that most of the outliers</a:t>
            </a:r>
            <a:r>
              <a:rPr lang="en-IN" altLang="en-US" sz="2400"/>
              <a:t> </a:t>
            </a:r>
            <a:r>
              <a:rPr lang="en-IN" altLang="en-US" sz="2000">
                <a:sym typeface="+mn-ea"/>
              </a:rPr>
              <a:t>(black circles at the top of the plots)</a:t>
            </a:r>
            <a:r>
              <a:rPr lang="en-US" altLang="en-US" sz="2400">
                <a:sym typeface="+mn-ea"/>
              </a:rPr>
              <a:t> </a:t>
            </a:r>
            <a:r>
              <a:rPr lang="en-US" altLang="en-US" sz="2400"/>
              <a:t> with high traffic density</a:t>
            </a:r>
            <a:r>
              <a:rPr lang="en-IN" altLang="en-US" sz="2400"/>
              <a:t> </a:t>
            </a:r>
            <a:r>
              <a:rPr lang="en-US" altLang="en-US" sz="2400"/>
              <a:t>during the night are appearing during fog,mist and snow. This hypothesis is further</a:t>
            </a:r>
            <a:r>
              <a:rPr lang="en-IN" altLang="en-US" sz="2400"/>
              <a:t> </a:t>
            </a:r>
            <a:r>
              <a:rPr lang="en-US" altLang="en-US" sz="2400"/>
              <a:t>confirmed when we check by month to see the outliers</a:t>
            </a:r>
            <a:r>
              <a:rPr lang="en-IN" altLang="en-US" sz="2400"/>
              <a:t> </a:t>
            </a:r>
            <a:r>
              <a:rPr lang="en-US" altLang="en-US" sz="2400"/>
              <a:t>appearing during the winter months.</a:t>
            </a:r>
            <a:endParaRPr lang="en-US" altLang="en-US" sz="2400"/>
          </a:p>
          <a:p>
            <a:endParaRPr lang="en-US" altLang="en-US" sz="2400"/>
          </a:p>
        </p:txBody>
      </p:sp>
      <p:pic>
        <p:nvPicPr>
          <p:cNvPr id="4" name="Picture 3"/>
          <p:cNvPicPr/>
          <p:nvPr/>
        </p:nvPicPr>
        <p:blipFill>
          <a:blip r:embed="rId1"/>
          <a:stretch>
            <a:fillRect/>
          </a:stretch>
        </p:blipFill>
        <p:spPr>
          <a:xfrm>
            <a:off x="265430" y="2378710"/>
            <a:ext cx="6176010" cy="4091305"/>
          </a:xfrm>
          <a:prstGeom prst="rect">
            <a:avLst/>
          </a:prstGeom>
          <a:ln>
            <a:solidFill>
              <a:schemeClr val="tx1"/>
            </a:solidFill>
          </a:ln>
        </p:spPr>
      </p:pic>
      <p:pic>
        <p:nvPicPr>
          <p:cNvPr id="6" name="Picture 5"/>
          <p:cNvPicPr/>
          <p:nvPr/>
        </p:nvPicPr>
        <p:blipFill>
          <a:blip r:embed="rId2"/>
          <a:stretch>
            <a:fillRect/>
          </a:stretch>
        </p:blipFill>
        <p:spPr>
          <a:xfrm>
            <a:off x="6577330" y="2378710"/>
            <a:ext cx="5354320" cy="4090670"/>
          </a:xfrm>
          <a:prstGeom prst="rect">
            <a:avLst/>
          </a:prstGeom>
          <a:ln>
            <a:solidFill>
              <a:schemeClr val="tx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3835" y="-48895"/>
            <a:ext cx="10515600" cy="1325563"/>
          </a:xfrm>
        </p:spPr>
        <p:txBody>
          <a:bodyPr/>
          <a:p>
            <a:r>
              <a:rPr lang="en-IN" altLang="en-US" sz="2800" b="1" u="sng">
                <a:solidFill>
                  <a:schemeClr val="accent1"/>
                </a:solidFill>
                <a:effectLst>
                  <a:outerShdw blurRad="38100" dist="25400" dir="5400000" algn="ctr" rotWithShape="0">
                    <a:srgbClr val="6E747A">
                      <a:alpha val="43000"/>
                    </a:srgbClr>
                  </a:outerShdw>
                </a:effectLst>
              </a:rPr>
              <a:t>Conclusion</a:t>
            </a:r>
            <a:endParaRPr lang="en-IN" altLang="en-US" sz="2800" b="1" u="sng">
              <a:solidFill>
                <a:schemeClr val="accent1"/>
              </a:solidFill>
              <a:effectLst>
                <a:outerShdw blurRad="38100" dist="25400" dir="5400000" algn="ctr" rotWithShape="0">
                  <a:srgbClr val="6E747A">
                    <a:alpha val="43000"/>
                  </a:srgbClr>
                </a:outerShdw>
              </a:effectLst>
            </a:endParaRPr>
          </a:p>
        </p:txBody>
      </p:sp>
      <p:sp>
        <p:nvSpPr>
          <p:cNvPr id="5" name="Content Placeholder 4"/>
          <p:cNvSpPr/>
          <p:nvPr>
            <p:ph idx="1"/>
          </p:nvPr>
        </p:nvSpPr>
        <p:spPr>
          <a:xfrm>
            <a:off x="203835" y="898525"/>
            <a:ext cx="11915140" cy="5959475"/>
          </a:xfrm>
        </p:spPr>
        <p:txBody>
          <a:bodyPr>
            <a:normAutofit lnSpcReduction="20000"/>
          </a:bodyPr>
          <a:p>
            <a:r>
              <a:rPr lang="en-US" altLang="en-US" sz="2400"/>
              <a:t>In this project, </a:t>
            </a:r>
            <a:r>
              <a:rPr lang="en-IN" altLang="en-US" sz="2400"/>
              <a:t>A thorough exploratory data analysis was conducted using python libraries such as pandas, seaborn and matplotlib. </a:t>
            </a:r>
            <a:endParaRPr lang="en-IN" altLang="en-US" sz="2400"/>
          </a:p>
          <a:p>
            <a:r>
              <a:rPr lang="en-IN" altLang="en-US" sz="2400"/>
              <a:t>Many tasks such as data cleaning, manipulation, sorting and visualizing were done to discover</a:t>
            </a:r>
            <a:r>
              <a:rPr lang="en-US" altLang="en-US" sz="2400"/>
              <a:t> </a:t>
            </a:r>
            <a:r>
              <a:rPr lang="en-IN" altLang="en-US" sz="2400"/>
              <a:t>a </a:t>
            </a:r>
            <a:r>
              <a:rPr lang="en-US" altLang="en-US" sz="2400"/>
              <a:t>few indicators of heavy traffic on the I-94 Interstate highway. </a:t>
            </a:r>
            <a:endParaRPr lang="en-US" altLang="en-US" sz="2400"/>
          </a:p>
          <a:p>
            <a:r>
              <a:rPr lang="en-IN" altLang="en-US" sz="2400"/>
              <a:t>Here are a list of key insights discovered for traffic on the I-94:</a:t>
            </a:r>
            <a:endParaRPr lang="en-US" altLang="en-US" sz="2400"/>
          </a:p>
          <a:p>
            <a:pPr marL="457200" indent="-457200">
              <a:buAutoNum type="arabicPeriod"/>
            </a:pPr>
            <a:r>
              <a:rPr lang="en-IN" altLang="en-US" sz="2400"/>
              <a:t>Weather conditons that are light in severity such as drizzle,haze or smoke increases traffic volume significantly. Harsh weather conditions such as shower snow or thunderstorms on the other hand tend to show the opposite.</a:t>
            </a:r>
            <a:endParaRPr lang="en-IN" altLang="en-US" sz="2400"/>
          </a:p>
          <a:p>
            <a:pPr marL="457200" indent="-457200">
              <a:buAutoNum type="arabicPeriod"/>
            </a:pPr>
            <a:r>
              <a:rPr lang="en-IN" altLang="en-US" sz="2400"/>
              <a:t>Normal workdays from Mon-Fri tend to have more traffic than weekends or holidays.</a:t>
            </a:r>
            <a:endParaRPr lang="en-IN" altLang="en-US" sz="2400"/>
          </a:p>
          <a:p>
            <a:pPr marL="457200" indent="-457200">
              <a:buAutoNum type="arabicPeriod"/>
            </a:pPr>
            <a:r>
              <a:rPr lang="en-IN" altLang="en-US" sz="2400"/>
              <a:t>Road closures or construction work tend to significantly reduce the volume of traffic. (July had road construction work in 2016)</a:t>
            </a:r>
            <a:endParaRPr lang="en-IN" altLang="en-US" sz="2400"/>
          </a:p>
          <a:p>
            <a:pPr marL="457200" indent="-457200">
              <a:buAutoNum type="arabicPeriod"/>
            </a:pPr>
            <a:r>
              <a:rPr lang="en-IN" altLang="en-US" sz="2400"/>
              <a:t>Summer months tend to cause heavy traffic flow compared to winter months.</a:t>
            </a:r>
            <a:endParaRPr lang="en-IN" altLang="en-US" sz="2400"/>
          </a:p>
          <a:p>
            <a:pPr marL="457200" indent="-457200">
              <a:buAutoNum type="arabicPeriod"/>
            </a:pPr>
            <a:r>
              <a:rPr lang="en-IN" altLang="en-US" sz="2400"/>
              <a:t>Daytime tends to have more traffic than nighttime with some exceptions discovered for night.</a:t>
            </a:r>
            <a:endParaRPr lang="en-IN" altLang="en-US" sz="2400"/>
          </a:p>
          <a:p>
            <a:pPr marL="457200" indent="-457200">
              <a:buAutoNum type="arabicPeriod"/>
            </a:pPr>
            <a:r>
              <a:rPr lang="en-IN" altLang="en-US" sz="2400"/>
              <a:t>The causes for heavy traffic in the night are discovered to be fog, mist or snow.</a:t>
            </a:r>
            <a:endParaRPr lang="en-IN" altLang="en-US" sz="2400"/>
          </a:p>
          <a:p>
            <a:pPr marL="457200" indent="-457200">
              <a:buAutoNum type="arabicPeriod"/>
            </a:pPr>
            <a:endParaRPr lang="en-IN" altLang="en-US" sz="2400"/>
          </a:p>
          <a:p>
            <a:pPr marL="0" indent="0">
              <a:buNone/>
            </a:pPr>
            <a:r>
              <a:rPr lang="en-IN" altLang="en-US" sz="2400"/>
              <a:t> </a:t>
            </a:r>
            <a:endParaRPr lang="en-IN" altLang="en-US" sz="2400"/>
          </a:p>
          <a:p>
            <a:pPr marL="457200" indent="-457200">
              <a:buAutoNum type="arabicPeriod"/>
            </a:pPr>
            <a:endParaRPr lang="en-IN" alt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5149</Words>
  <Application>WPS Presentation</Application>
  <PresentationFormat>Widescreen</PresentationFormat>
  <Paragraphs>82</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12</vt:i4>
      </vt:variant>
    </vt:vector>
  </HeadingPairs>
  <TitlesOfParts>
    <vt:vector size="21" baseType="lpstr">
      <vt:lpstr>Arial</vt:lpstr>
      <vt:lpstr>SimSun</vt:lpstr>
      <vt:lpstr>Wingdings</vt:lpstr>
      <vt:lpstr>Calibri Light</vt:lpstr>
      <vt:lpstr>Calibri</vt:lpstr>
      <vt:lpstr>Microsoft YaHei</vt:lpstr>
      <vt:lpstr>Arial Unicode MS</vt:lpstr>
      <vt:lpstr>Office Theme</vt:lpstr>
      <vt:lpstr>1_Office Theme</vt:lpstr>
      <vt:lpstr>ATO Road Safety Profiles</vt:lpstr>
      <vt:lpstr>PowerPoint 演示文稿</vt:lpstr>
      <vt:lpstr>Project Overview</vt:lpstr>
      <vt:lpstr>Data Manipulation</vt:lpstr>
      <vt:lpstr>Analyzing Traffic Volume Distribution</vt:lpstr>
      <vt:lpstr>Analyzing Traffic Volume Distribution by Weather Conditions</vt:lpstr>
      <vt:lpstr>Analyzing Traffic Volume Distribution by Weather Conditions</vt:lpstr>
      <vt:lpstr>Analyzing Traffic Volume Distribution by Month</vt:lpstr>
      <vt:lpstr>Analyzing yearly Traffic Volume Distribution in the month of July</vt:lpstr>
      <vt:lpstr>Analyzing yearly Traffic Volume Distribution in the month of July</vt:lpstr>
      <vt:lpstr>Comparing Day vs Night Traffic Volume Distribution</vt:lpstr>
      <vt:lpstr>Project Overview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SAI PRITHVI</cp:lastModifiedBy>
  <cp:revision>2</cp:revision>
  <dcterms:created xsi:type="dcterms:W3CDTF">2026-08-01T11:17:00Z</dcterms:created>
  <dcterms:modified xsi:type="dcterms:W3CDTF">2026-08-01T13:10:00Z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F1F77A1B0B6C4867B4FFBB102B3EEDCF_13</vt:lpwstr>
  </property>
</Properties>
</file>